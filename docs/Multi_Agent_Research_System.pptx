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34840"/>
            <a:ext cx="12191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285F4"/>
                </a:solidFill>
              </a:defRPr>
            </a:pPr>
            <a:r>
              <a:t>CAPSTONE PROJECT  ·  GOOGLE CLOUD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4000" b="1">
                <a:solidFill>
                  <a:srgbClr val="FFFFFF"/>
                </a:solidFill>
              </a:defRPr>
            </a:pPr>
            <a:r>
              <a:t>Multi-Agent Research</a:t>
            </a:r>
            <a:br/>
            <a:r>
              <a:t>Intelligence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38328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BBCCDD"/>
                </a:solidFill>
              </a:defRPr>
            </a:pPr>
            <a:r>
              <a:t>Google ADK  ·  RAG  ·  Tavily Web Search  ·  Cloud Run</a:t>
            </a:r>
          </a:p>
          <a:p>
            <a:pPr>
              <a:spcAft>
                <a:spcPts val="400"/>
              </a:spcAft>
              <a:defRPr sz="1600">
                <a:solidFill>
                  <a:srgbClr val="BBCCDD"/>
                </a:solidFill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99AABB"/>
                </a:solidFill>
              </a:defRPr>
            </a:pPr>
            <a:r>
              <a:t>Dinaz Sanaullah</a:t>
            </a:r>
          </a:p>
          <a:p>
            <a:pPr>
              <a:spcAft>
                <a:spcPts val="400"/>
              </a:spcAft>
              <a:defRPr sz="1400">
                <a:solidFill>
                  <a:srgbClr val="99AABB"/>
                </a:solidFill>
              </a:defRPr>
            </a:pPr>
            <a:r>
              <a:t>June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9893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4285F4"/>
                </a:solidFill>
              </a:defRPr>
            </a:pPr>
            <a:r>
              <a:t>github.com/Dinaz-Sanaullah/multi-agent-research-system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09728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0D1B2A"/>
                </a:solidFill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757575"/>
                </a:solidFill>
              </a:defRPr>
            </a:pPr>
            <a:r>
              <a:t>Overview of today's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32461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27432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285F4"/>
                </a:solidFill>
              </a:defRPr>
            </a:pPr>
            <a:r>
              <a:t>01</a:t>
            </a:r>
          </a:p>
          <a:p>
            <a:pPr>
              <a:spcBef>
                <a:spcPts val="600"/>
              </a:spcBef>
              <a:defRPr sz="1400" b="1">
                <a:solidFill>
                  <a:srgbClr val="0D1B2A"/>
                </a:solidFill>
              </a:defRPr>
            </a:pPr>
            <a:r>
              <a:t>Problem &amp; Objectives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1417320"/>
            <a:ext cx="32461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645920"/>
            <a:ext cx="27432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285F4"/>
                </a:solidFill>
              </a:defRPr>
            </a:pPr>
            <a:r>
              <a:t>02</a:t>
            </a:r>
          </a:p>
          <a:p>
            <a:pPr>
              <a:spcBef>
                <a:spcPts val="600"/>
              </a:spcBef>
              <a:defRPr sz="1400" b="1">
                <a:solidFill>
                  <a:srgbClr val="0D1B2A"/>
                </a:solidFill>
              </a:defRPr>
            </a:pPr>
            <a:r>
              <a:t>System Architecture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35240" y="1417320"/>
            <a:ext cx="32461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645920"/>
            <a:ext cx="27432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285F4"/>
                </a:solidFill>
              </a:defRPr>
            </a:pPr>
            <a:r>
              <a:t>03</a:t>
            </a:r>
          </a:p>
          <a:p>
            <a:pPr>
              <a:spcBef>
                <a:spcPts val="600"/>
              </a:spcBef>
              <a:defRPr sz="1400" b="1">
                <a:solidFill>
                  <a:srgbClr val="0D1B2A"/>
                </a:solidFill>
              </a:defRPr>
            </a:pPr>
            <a:r>
              <a:t>Multi-Agent Design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337560"/>
            <a:ext cx="32461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27432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285F4"/>
                </a:solidFill>
              </a:defRPr>
            </a:pPr>
            <a:r>
              <a:t>04</a:t>
            </a:r>
          </a:p>
          <a:p>
            <a:pPr>
              <a:spcBef>
                <a:spcPts val="600"/>
              </a:spcBef>
              <a:defRPr sz="1400" b="1">
                <a:solidFill>
                  <a:srgbClr val="0D1B2A"/>
                </a:solidFill>
              </a:defRPr>
            </a:pPr>
            <a:r>
              <a:t>RAG &amp; Web Search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3337560"/>
            <a:ext cx="32461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3566160"/>
            <a:ext cx="27432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285F4"/>
                </a:solidFill>
              </a:defRPr>
            </a:pPr>
            <a:r>
              <a:t>05</a:t>
            </a:r>
          </a:p>
          <a:p>
            <a:pPr>
              <a:spcBef>
                <a:spcPts val="600"/>
              </a:spcBef>
              <a:defRPr sz="1400" b="1">
                <a:solidFill>
                  <a:srgbClr val="0D1B2A"/>
                </a:solidFill>
              </a:defRPr>
            </a:pPr>
            <a:r>
              <a:t>Deployment &amp; Results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35240" y="3337560"/>
            <a:ext cx="32461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3566160"/>
            <a:ext cx="27432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285F4"/>
                </a:solidFill>
              </a:defRPr>
            </a:pPr>
            <a:r>
              <a:t>06</a:t>
            </a:r>
          </a:p>
          <a:p>
            <a:pPr>
              <a:spcBef>
                <a:spcPts val="600"/>
              </a:spcBef>
              <a:defRPr sz="1400" b="1">
                <a:solidFill>
                  <a:srgbClr val="0D1B2A"/>
                </a:solidFill>
              </a:defRPr>
            </a:pPr>
            <a:r>
              <a:t>Challenges &amp; Conclusion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6501384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757575"/>
                </a:solidFill>
              </a:defRPr>
            </a:pPr>
            <a:r>
              <a:t>Multi-Agent Research Intelligence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6501384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900" b="0">
                <a:solidFill>
                  <a:srgbClr val="757575"/>
                </a:solidFill>
              </a:defRPr>
            </a:pPr>
            <a:r>
              <a:t>Agenda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501384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757575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01168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7200" b="1">
                <a:solidFill>
                  <a:srgbClr val="4285F4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2004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400" b="1">
                <a:solidFill>
                  <a:srgbClr val="FFFFFF"/>
                </a:solidFill>
              </a:defRPr>
            </a:pPr>
            <a:r>
              <a:t>Problem &amp;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1605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BBCCDD"/>
                </a:solidFill>
              </a:defRPr>
            </a:pPr>
            <a:r>
              <a:t>Defining the research assistant use case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09728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0D1B2A"/>
                </a:solidFill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757575"/>
                </a:solidFill>
              </a:defRPr>
            </a:pPr>
            <a:r>
              <a:t>Why a multi-agent approach is needed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424242"/>
                </a:solidFill>
              </a:defRPr>
            </a:pPr>
            <a:r>
              <a:t>▸  Researchers require answers combining established literature with the latest publications</a:t>
            </a:r>
          </a:p>
          <a:p>
            <a:pPr>
              <a:spcAft>
                <a:spcPts val="1000"/>
              </a:spcAft>
              <a:defRPr sz="1500">
                <a:solidFill>
                  <a:srgbClr val="424242"/>
                </a:solidFill>
              </a:defRPr>
            </a:pPr>
            <a:r>
              <a:t>▸  Single-prompt LLMs hallucinate citations and cannot query private paper corpora</a:t>
            </a:r>
          </a:p>
          <a:p>
            <a:pPr>
              <a:spcAft>
                <a:spcPts val="1000"/>
              </a:spcAft>
              <a:defRPr sz="1500">
                <a:solidFill>
                  <a:srgbClr val="424242"/>
                </a:solidFill>
              </a:defRPr>
            </a:pPr>
            <a:r>
              <a:t>▸  Academic knowledge bases and real-time web sources need different retrieval strategies</a:t>
            </a:r>
          </a:p>
          <a:p>
            <a:pPr>
              <a:spcAft>
                <a:spcPts val="1000"/>
              </a:spcAft>
              <a:defRPr sz="1500">
                <a:solidFill>
                  <a:srgbClr val="424242"/>
                </a:solidFill>
              </a:defRPr>
            </a:pPr>
            <a:r>
              <a:t>▸  Automated quality review is essential before presenting research findings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01384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757575"/>
                </a:solidFill>
              </a:defRPr>
            </a:pPr>
            <a:r>
              <a:t>Multi-Agent Research Intelligence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6501384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900" b="0">
                <a:solidFill>
                  <a:srgbClr val="757575"/>
                </a:solidFill>
              </a:defRPr>
            </a:pPr>
            <a: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01384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757575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09728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0D1B2A"/>
                </a:solidFill>
              </a:defRPr>
            </a:pPr>
            <a:r>
              <a:t>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757575"/>
                </a:solidFill>
              </a:defRPr>
            </a:pPr>
            <a:r>
              <a:t>All seven core requirements delivered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424242"/>
                </a:solidFill>
              </a:defRPr>
            </a:pPr>
            <a:r>
              <a:t>▸  Multi-agent system with Google ADK — Orchestrator, Researcher, Reviewer/QA</a:t>
            </a:r>
          </a:p>
          <a:p>
            <a:pPr>
              <a:spcAft>
                <a:spcPts val="1000"/>
              </a:spcAft>
              <a:defRPr sz="1500">
                <a:solidFill>
                  <a:srgbClr val="424242"/>
                </a:solidFill>
              </a:defRPr>
            </a:pPr>
            <a:r>
              <a:t>▸  RAG pipeline — PDF extraction, semantic chunking, text-embedding-005, FAISS</a:t>
            </a:r>
          </a:p>
          <a:p>
            <a:pPr>
              <a:spcAft>
                <a:spcPts val="1000"/>
              </a:spcAft>
              <a:defRPr sz="1500">
                <a:solidFill>
                  <a:srgbClr val="424242"/>
                </a:solidFill>
              </a:defRPr>
            </a:pPr>
            <a:r>
              <a:t>▸  Web search via Tavily API with intelligent RAG vs. Web vs. Hybrid routing</a:t>
            </a:r>
          </a:p>
          <a:p>
            <a:pPr>
              <a:spcAft>
                <a:spcPts val="1000"/>
              </a:spcAft>
              <a:defRPr sz="1500">
                <a:solidFill>
                  <a:srgbClr val="424242"/>
                </a:solidFill>
              </a:defRPr>
            </a:pPr>
            <a:r>
              <a:t>▸  Custom tools demonstrating agent composition and state management</a:t>
            </a:r>
          </a:p>
          <a:p>
            <a:pPr>
              <a:spcAft>
                <a:spcPts val="1000"/>
              </a:spcAft>
              <a:defRPr sz="1500">
                <a:solidFill>
                  <a:srgbClr val="424242"/>
                </a:solidFill>
              </a:defRPr>
            </a:pPr>
            <a:r>
              <a:t>▸  Observability — structured JSON logging, metrics, optional Cloud Trace</a:t>
            </a:r>
          </a:p>
          <a:p>
            <a:pPr>
              <a:spcAft>
                <a:spcPts val="1000"/>
              </a:spcAft>
              <a:defRPr sz="1500">
                <a:solidFill>
                  <a:srgbClr val="424242"/>
                </a:solidFill>
              </a:defRPr>
            </a:pPr>
            <a:r>
              <a:t>▸  Streamlit UI for local interaction and PDF ingestion</a:t>
            </a:r>
          </a:p>
          <a:p>
            <a:pPr>
              <a:spcAft>
                <a:spcPts val="1000"/>
              </a:spcAft>
              <a:defRPr sz="1500">
                <a:solidFill>
                  <a:srgbClr val="424242"/>
                </a:solidFill>
              </a:defRPr>
            </a:pPr>
            <a:r>
              <a:t>▸  Production deployment on Google Cloud Run with CI/CD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01384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757575"/>
                </a:solidFill>
              </a:defRPr>
            </a:pPr>
            <a:r>
              <a:t>Multi-Agent Research Intelligence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6501384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900" b="0">
                <a:solidFill>
                  <a:srgbClr val="757575"/>
                </a:solidFill>
              </a:defRPr>
            </a:pPr>
            <a:r>
              <a:t>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01384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757575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01168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7200" b="1">
                <a:solidFill>
                  <a:srgbClr val="4285F4"/>
                </a:solidFill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2004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4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1605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BBCCDD"/>
                </a:solidFill>
              </a:defRPr>
            </a:pPr>
            <a:r>
              <a:t>How agents, tools, and services connect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09728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0D1B2A"/>
                </a:solidFill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757575"/>
                </a:solidFill>
              </a:defRPr>
            </a:pPr>
            <a:r>
              <a:t>End-to-end request flow through the agent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2015" y="1691640"/>
            <a:ext cx="1234440" cy="77724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User Query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834743" y="1965960"/>
            <a:ext cx="128016" cy="228600"/>
          </a:xfrm>
          <a:prstGeom prst="rightArrow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981047" y="1691640"/>
            <a:ext cx="1234440" cy="77724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Orchestrator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33775" y="1965960"/>
            <a:ext cx="128016" cy="228600"/>
          </a:xfrm>
          <a:prstGeom prst="rightArrow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80079" y="1691640"/>
            <a:ext cx="1234440" cy="77724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Planner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632807" y="1965960"/>
            <a:ext cx="128016" cy="228600"/>
          </a:xfrm>
          <a:prstGeom prst="rightArrow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79111" y="1691640"/>
            <a:ext cx="1234440" cy="7772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RAG Researcher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031839" y="1965960"/>
            <a:ext cx="128016" cy="228600"/>
          </a:xfrm>
          <a:prstGeom prst="rightArrow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78143" y="1691640"/>
            <a:ext cx="1234440" cy="7772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Web Researcher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430871" y="1965960"/>
            <a:ext cx="128016" cy="228600"/>
          </a:xfrm>
          <a:prstGeom prst="rightArrow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577175" y="1691640"/>
            <a:ext cx="1234440" cy="77724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Synthesizer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829903" y="1965960"/>
            <a:ext cx="128016" cy="228600"/>
          </a:xfrm>
          <a:prstGeom prst="rightArrow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76207" y="1691640"/>
            <a:ext cx="1234440" cy="77724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Reviewer / QA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0228935" y="1965960"/>
            <a:ext cx="128016" cy="228600"/>
          </a:xfrm>
          <a:prstGeom prst="rightArrow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375239" y="1691640"/>
            <a:ext cx="1234440" cy="77724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Response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2788920"/>
            <a:ext cx="35661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898648"/>
            <a:ext cx="3291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D1B2A"/>
                </a:solidFill>
              </a:defRPr>
            </a:pPr>
            <a:r>
              <a:t>Hierarchical Delegation</a:t>
            </a:r>
          </a:p>
          <a:p>
            <a:pPr>
              <a:spcBef>
                <a:spcPts val="400"/>
              </a:spcBef>
              <a:defRPr sz="1100">
                <a:solidFill>
                  <a:srgbClr val="757575"/>
                </a:solidFill>
              </a:defRPr>
            </a:pPr>
            <a:r>
              <a:t>Orchestrator → Pipeline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2788920"/>
            <a:ext cx="35661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2898648"/>
            <a:ext cx="3291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D1B2A"/>
                </a:solidFill>
              </a:defRPr>
            </a:pPr>
            <a:r>
              <a:t>Sequential Flow</a:t>
            </a:r>
          </a:p>
          <a:p>
            <a:pPr>
              <a:spcBef>
                <a:spcPts val="400"/>
              </a:spcBef>
              <a:defRPr sz="1100">
                <a:solidFill>
                  <a:srgbClr val="757575"/>
                </a:solidFill>
              </a:defRPr>
            </a:pPr>
            <a:r>
              <a:t>Planner → Research → QA Loop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1000" y="2788920"/>
            <a:ext cx="35661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2898648"/>
            <a:ext cx="3291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D1B2A"/>
                </a:solidFill>
              </a:defRPr>
            </a:pPr>
            <a:r>
              <a:t>Parallel / Sequential</a:t>
            </a:r>
          </a:p>
          <a:p>
            <a:pPr>
              <a:spcBef>
                <a:spcPts val="400"/>
              </a:spcBef>
              <a:defRPr sz="1100">
                <a:solidFill>
                  <a:srgbClr val="757575"/>
                </a:solidFill>
              </a:defRPr>
            </a:pPr>
            <a:r>
              <a:t>RAG + Web Researchers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343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D1B2A"/>
                </a:solidFill>
              </a:defRPr>
            </a:pPr>
            <a:r>
              <a:t>Technology Stack</a:t>
            </a:r>
          </a:p>
          <a:p>
            <a:pPr>
              <a:spcBef>
                <a:spcPts val="600"/>
              </a:spcBef>
              <a:defRPr sz="1300">
                <a:solidFill>
                  <a:srgbClr val="4285F4"/>
                </a:solidFill>
              </a:defRPr>
            </a:pPr>
            <a:r>
              <a:t>Gemini 2.5 Flash  ·  text-embedding-005  ·  FAISS  ·  Tavily  ·  Google ADK  ·  Cloud Run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6501384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757575"/>
                </a:solidFill>
              </a:defRPr>
            </a:pPr>
            <a:r>
              <a:t>Multi-Agent Research Intelligence 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6501384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900" b="0">
                <a:solidFill>
                  <a:srgbClr val="757575"/>
                </a:solidFill>
              </a:defRPr>
            </a:pPr>
            <a:r>
              <a:t>Architecture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501384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757575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01168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7200" b="1">
                <a:solidFill>
                  <a:srgbClr val="4285F4"/>
                </a:solidFill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2004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400" b="1">
                <a:solidFill>
                  <a:srgbClr val="FFFFFF"/>
                </a:solidFill>
              </a:defRPr>
            </a:pPr>
            <a:r>
              <a:t>Multi-Agent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1605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BBCCDD"/>
                </a:solidFill>
              </a:defRPr>
            </a:pPr>
            <a:r>
              <a:t>Seven specialized agents, four communication patterns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09728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0D1B2A"/>
                </a:solidFill>
              </a:defRPr>
            </a:pPr>
            <a:r>
              <a:t>Agent Roster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757575"/>
                </a:solidFill>
              </a:defRPr>
            </a:pPr>
            <a:r>
              <a:t>Specialized roles within the research pipeline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17320"/>
          <a:ext cx="109728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114800"/>
                <a:gridCol w="4846320"/>
              </a:tblGrid>
              <a:tr h="38404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Responsibility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Primary Tools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</a:defRPr>
                      </a:pPr>
                      <a:r>
                        <a:t>Orchestrator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</a:defRPr>
                      </a:pPr>
                      <a:r>
                        <a:t>Root coordinator; delegates 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</a:defRPr>
                      </a:pPr>
                      <a:r>
                        <a:t>get_system_metrics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</a:defRPr>
                      </a:pPr>
                      <a:r>
                        <a:t>Planner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</a:defRPr>
                      </a:pPr>
                      <a:r>
                        <a:t>Query classification &amp; research plan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</a:defRPr>
                      </a:pPr>
                      <a:r>
                        <a:t>save_research_plan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</a:defRPr>
                      </a:pPr>
                      <a:r>
                        <a:t>RAG Researcher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</a:defRPr>
                      </a:pPr>
                      <a:r>
                        <a:t>Academic knowledge base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</a:defRPr>
                      </a:pPr>
                      <a:r>
                        <a:t>search_knowledge_base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</a:defRPr>
                      </a:pPr>
                      <a:r>
                        <a:t>Web Researcher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</a:defRPr>
                      </a:pPr>
                      <a:r>
                        <a:t>Real-time citation discovery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</a:defRPr>
                      </a:pPr>
                      <a:r>
                        <a:t>search_web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</a:defRPr>
                      </a:pPr>
                      <a:r>
                        <a:t>Synthesizer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</a:defRPr>
                      </a:pPr>
                      <a:r>
                        <a:t>Merge findings into 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</a:defRPr>
                      </a:pPr>
                      <a:r>
                        <a:t>format_citations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</a:defRPr>
                      </a:pPr>
                      <a:r>
                        <a:t>Reviewer / QA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</a:defRPr>
                      </a:pPr>
                      <a:r>
                        <a:t>Quality gate &amp; approval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</a:defRPr>
                      </a:pPr>
                      <a:r>
                        <a:t>exit_loop, append_to_state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</a:defRPr>
                      </a:pPr>
                      <a:r>
                        <a:t>Refiner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</a:defRPr>
                      </a:pPr>
                      <a:r>
                        <a:t>Revise synthesis on feedback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24242"/>
                          </a:solidFill>
                        </a:defRPr>
                      </a:pPr>
                      <a:r>
                        <a:t>format_citations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01384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757575"/>
                </a:solidFill>
              </a:defRPr>
            </a:pPr>
            <a:r>
              <a:t>Multi-Agent Research Intelligence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6501384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900" b="0">
                <a:solidFill>
                  <a:srgbClr val="757575"/>
                </a:solidFill>
              </a:defRPr>
            </a:pPr>
            <a:r>
              <a:t>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01384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757575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09728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0D1B2A"/>
                </a:solidFill>
              </a:defRPr>
            </a:pPr>
            <a:r>
              <a:t>Communication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757575"/>
                </a:solidFill>
              </a:defRPr>
            </a:pPr>
            <a:r>
              <a:t>Four ADK workflow patterns implemented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5349240" cy="4709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0D1B2A"/>
                </a:solidFill>
              </a:defRPr>
            </a:pPr>
            <a:r>
              <a:t>Workflow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424242"/>
                </a:solidFill>
              </a:defRPr>
            </a:pPr>
            <a:r>
              <a:t>▸  Sequential — Planner → Research → QA Loop</a:t>
            </a:r>
          </a:p>
          <a:p>
            <a:pPr>
              <a:spcAft>
                <a:spcPts val="700"/>
              </a:spcAft>
              <a:defRPr sz="1300">
                <a:solidFill>
                  <a:srgbClr val="424242"/>
                </a:solidFill>
              </a:defRPr>
            </a:pPr>
            <a:r>
              <a:t>▸  Parallel — RAG + Web researchers concurrently</a:t>
            </a:r>
          </a:p>
          <a:p>
            <a:pPr>
              <a:spcAft>
                <a:spcPts val="700"/>
              </a:spcAft>
              <a:defRPr sz="1300">
                <a:solidFill>
                  <a:srgbClr val="424242"/>
                </a:solidFill>
              </a:defRPr>
            </a:pPr>
            <a:r>
              <a:t>▸  Hierarchical — Orchestrator delegates to pipeline</a:t>
            </a:r>
          </a:p>
          <a:p>
            <a:pPr>
              <a:spcAft>
                <a:spcPts val="700"/>
              </a:spcAft>
              <a:defRPr sz="1300">
                <a:solidFill>
                  <a:srgbClr val="424242"/>
                </a:solidFill>
              </a:defRPr>
            </a:pPr>
            <a:r>
              <a:t>▸  Feedback Loop — Review → Refine until approved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417320"/>
            <a:ext cx="5349240" cy="4709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544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0D1B2A"/>
                </a:solidFill>
              </a:defRPr>
            </a:pPr>
            <a:r>
              <a:t>State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424242"/>
                </a:solidFill>
              </a:defRPr>
            </a:pPr>
            <a:r>
              <a:t>▸  Shared session state across all agents</a:t>
            </a:r>
          </a:p>
          <a:p>
            <a:pPr>
              <a:spcAft>
                <a:spcPts val="700"/>
              </a:spcAft>
              <a:defRPr sz="1300">
                <a:solidFill>
                  <a:srgbClr val="424242"/>
                </a:solidFill>
              </a:defRPr>
            </a:pPr>
            <a:r>
              <a:t>▸  user_query, research_plan, rag_findings</a:t>
            </a:r>
          </a:p>
          <a:p>
            <a:pPr>
              <a:spcAft>
                <a:spcPts val="700"/>
              </a:spcAft>
              <a:defRPr sz="1300">
                <a:solidFill>
                  <a:srgbClr val="424242"/>
                </a:solidFill>
              </a:defRPr>
            </a:pPr>
            <a:r>
              <a:t>▸  web_findings, research_synthesis</a:t>
            </a:r>
          </a:p>
          <a:p>
            <a:pPr>
              <a:spcAft>
                <a:spcPts val="700"/>
              </a:spcAft>
              <a:defRPr sz="1300">
                <a:solidFill>
                  <a:srgbClr val="424242"/>
                </a:solidFill>
              </a:defRPr>
            </a:pPr>
            <a:r>
              <a:t>▸  review_feedback via output_key templating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6501384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757575"/>
                </a:solidFill>
              </a:defRPr>
            </a:pPr>
            <a:r>
              <a:t>Multi-Agent Research Intelligence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6501384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900" b="0">
                <a:solidFill>
                  <a:srgbClr val="757575"/>
                </a:solidFill>
              </a:defRPr>
            </a:pPr>
            <a:r>
              <a:t>Patterns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501384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757575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01168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7200" b="1">
                <a:solidFill>
                  <a:srgbClr val="4285F4"/>
                </a:solidFill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2004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400" b="1">
                <a:solidFill>
                  <a:srgbClr val="FFFFFF"/>
                </a:solidFill>
              </a:defRPr>
            </a:pPr>
            <a:r>
              <a:t>RAG &amp; Web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1605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BBCCDD"/>
                </a:solidFill>
              </a:defRPr>
            </a:pPr>
            <a:r>
              <a:t>Dual-source intelligence with smart routing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09728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0D1B2A"/>
                </a:solidFill>
              </a:defRPr>
            </a:pPr>
            <a:r>
              <a:t>Knowledge Retrieval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757575"/>
                </a:solidFill>
              </a:defRPr>
            </a:pPr>
            <a:r>
              <a:t>RAG pipeline and web search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5349240" cy="4709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0D1B2A"/>
                </a:solidFill>
              </a:defRPr>
            </a:pPr>
            <a:r>
              <a:t>RAG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424242"/>
                </a:solidFill>
              </a:defRPr>
            </a:pPr>
            <a:r>
              <a:t>▸  PDF extraction with PyPDF</a:t>
            </a:r>
          </a:p>
          <a:p>
            <a:pPr>
              <a:spcAft>
                <a:spcPts val="700"/>
              </a:spcAft>
              <a:defRPr sz="1300">
                <a:solidFill>
                  <a:srgbClr val="424242"/>
                </a:solidFill>
              </a:defRPr>
            </a:pPr>
            <a:r>
              <a:t>▸  Semantic paragraph-aware chunking</a:t>
            </a:r>
          </a:p>
          <a:p>
            <a:pPr>
              <a:spcAft>
                <a:spcPts val="700"/>
              </a:spcAft>
              <a:defRPr sz="1300">
                <a:solidFill>
                  <a:srgbClr val="424242"/>
                </a:solidFill>
              </a:defRPr>
            </a:pPr>
            <a:r>
              <a:t>▸  Vertex AI text-embedding-005</a:t>
            </a:r>
          </a:p>
          <a:p>
            <a:pPr>
              <a:spcAft>
                <a:spcPts val="700"/>
              </a:spcAft>
              <a:defRPr sz="1300">
                <a:solidFill>
                  <a:srgbClr val="424242"/>
                </a:solidFill>
              </a:defRPr>
            </a:pPr>
            <a:r>
              <a:t>▸  FAISS vector store (104 chunks)</a:t>
            </a:r>
          </a:p>
          <a:p>
            <a:pPr>
              <a:spcAft>
                <a:spcPts val="700"/>
              </a:spcAft>
              <a:defRPr sz="1300">
                <a:solidFill>
                  <a:srgbClr val="424242"/>
                </a:solidFill>
              </a:defRPr>
            </a:pPr>
            <a:r>
              <a:t>▸  Top-k similarity retrieval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417320"/>
            <a:ext cx="5349240" cy="4709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544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0D1B2A"/>
                </a:solidFill>
              </a:defRPr>
            </a:pPr>
            <a:r>
              <a:t>Web Search (Tavily)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424242"/>
                </a:solidFill>
              </a:defRPr>
            </a:pPr>
            <a:r>
              <a:t>▸  Advanced search depth, 5 results</a:t>
            </a:r>
          </a:p>
          <a:p>
            <a:pPr>
              <a:spcAft>
                <a:spcPts val="700"/>
              </a:spcAft>
              <a:defRPr sz="1300">
                <a:solidFill>
                  <a:srgbClr val="424242"/>
                </a:solidFill>
              </a:defRPr>
            </a:pPr>
            <a:r>
              <a:t>▸  AI-generated answer summaries</a:t>
            </a:r>
          </a:p>
          <a:p>
            <a:pPr>
              <a:spcAft>
                <a:spcPts val="700"/>
              </a:spcAft>
              <a:defRPr sz="1300">
                <a:solidFill>
                  <a:srgbClr val="424242"/>
                </a:solidFill>
              </a:defRPr>
            </a:pPr>
            <a:r>
              <a:t>▸  Authoritative source prioritization</a:t>
            </a:r>
          </a:p>
          <a:p>
            <a:pPr>
              <a:spcAft>
                <a:spcPts val="700"/>
              </a:spcAft>
              <a:defRPr sz="1300">
                <a:solidFill>
                  <a:srgbClr val="424242"/>
                </a:solidFill>
              </a:defRPr>
            </a:pPr>
            <a:r>
              <a:t>▸  Intelligent query routing:</a:t>
            </a:r>
          </a:p>
          <a:p>
            <a:pPr>
              <a:spcAft>
                <a:spcPts val="700"/>
              </a:spcAft>
              <a:defRPr sz="1300">
                <a:solidFill>
                  <a:srgbClr val="424242"/>
                </a:solidFill>
              </a:defRPr>
            </a:pPr>
            <a:r>
              <a:t>▸    RAG · Web · Hybrid classification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6501384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757575"/>
                </a:solidFill>
              </a:defRPr>
            </a:pPr>
            <a:r>
              <a:t>Multi-Agent Research Intelligence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6501384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900" b="0">
                <a:solidFill>
                  <a:srgbClr val="757575"/>
                </a:solidFill>
              </a:defRPr>
            </a:pPr>
            <a:r>
              <a:t>Retrieval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501384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757575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09728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0D1B2A"/>
                </a:solidFill>
              </a:defRPr>
            </a:pPr>
            <a:r>
              <a:t>Custom Tools &amp;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757575"/>
                </a:solidFill>
              </a:defRPr>
            </a:pPr>
            <a:r>
              <a:t>Production-ready instrumentation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424242"/>
                </a:solidFill>
              </a:defRPr>
            </a:pPr>
            <a:r>
              <a:t>▸  search_knowledge_base — FAISS retrieval over academic PDFs</a:t>
            </a:r>
          </a:p>
          <a:p>
            <a:pPr>
              <a:spcAft>
                <a:spcPts val="1000"/>
              </a:spcAft>
              <a:defRPr sz="1500">
                <a:solidFill>
                  <a:srgbClr val="424242"/>
                </a:solidFill>
              </a:defRPr>
            </a:pPr>
            <a:r>
              <a:t>▸  search_web — Tavily API for real-time information</a:t>
            </a:r>
          </a:p>
          <a:p>
            <a:pPr>
              <a:spcAft>
                <a:spcPts val="1000"/>
              </a:spcAft>
              <a:defRPr sz="1500">
                <a:solidFill>
                  <a:srgbClr val="424242"/>
                </a:solidFill>
              </a:defRPr>
            </a:pPr>
            <a:r>
              <a:t>▸  save_research_plan, append_to_state — cross-agent state sharing</a:t>
            </a:r>
          </a:p>
          <a:p>
            <a:pPr>
              <a:spcAft>
                <a:spcPts val="1000"/>
              </a:spcAft>
              <a:defRPr sz="1500">
                <a:solidFill>
                  <a:srgbClr val="424242"/>
                </a:solidFill>
              </a:defRPr>
            </a:pPr>
            <a:r>
              <a:t>▸  format_citations — merges paper and web reference sources</a:t>
            </a:r>
          </a:p>
          <a:p>
            <a:pPr>
              <a:spcAft>
                <a:spcPts val="1000"/>
              </a:spcAft>
              <a:defRPr sz="1500">
                <a:solidFill>
                  <a:srgbClr val="424242"/>
                </a:solidFill>
              </a:defRPr>
            </a:pPr>
            <a:r>
              <a:t>▸  get_system_metrics — query counts, latency, review iterations</a:t>
            </a:r>
          </a:p>
          <a:p>
            <a:pPr>
              <a:spcAft>
                <a:spcPts val="1000"/>
              </a:spcAft>
              <a:defRPr sz="1500">
                <a:solidFill>
                  <a:srgbClr val="424242"/>
                </a:solidFill>
              </a:defRPr>
            </a:pPr>
            <a:r>
              <a:t>▸  structlog JSON logging with optional OpenTelemetry Cloud Trace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01384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757575"/>
                </a:solidFill>
              </a:defRPr>
            </a:pPr>
            <a:r>
              <a:t>Multi-Agent Research Intelligence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6501384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900" b="0">
                <a:solidFill>
                  <a:srgbClr val="757575"/>
                </a:solidFill>
              </a:defRPr>
            </a:pPr>
            <a:r>
              <a:t>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01384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757575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01168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7200" b="1">
                <a:solidFill>
                  <a:srgbClr val="4285F4"/>
                </a:solidFill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2004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400" b="1">
                <a:solidFill>
                  <a:srgbClr val="FFFFFF"/>
                </a:solidFill>
              </a:defRPr>
            </a:pPr>
            <a:r>
              <a:t>Deployment &amp;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1605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BBCCDD"/>
                </a:solidFill>
              </a:defRPr>
            </a:pPr>
            <a:r>
              <a:t>Cloud infrastructure and validation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09728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0D1B2A"/>
                </a:solidFill>
              </a:defRPr>
            </a:pPr>
            <a:r>
              <a:t>Cloud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757575"/>
                </a:solidFill>
              </a:defRPr>
            </a:pPr>
            <a:r>
              <a:t>Google Cloud Platform production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424242"/>
                </a:solidFill>
              </a:defRPr>
            </a:pPr>
            <a:r>
              <a:t>▸  Platform: Cloud Run (us-central1) — 2 GiB RAM, 300s timeout</a:t>
            </a:r>
          </a:p>
          <a:p>
            <a:pPr>
              <a:spcAft>
                <a:spcPts val="1000"/>
              </a:spcAft>
              <a:defRPr sz="1500">
                <a:solidFill>
                  <a:srgbClr val="424242"/>
                </a:solidFill>
              </a:defRPr>
            </a:pPr>
            <a:r>
              <a:t>▸  CI/CD: Cloud Build → Docker → GCR → automated deploy</a:t>
            </a:r>
          </a:p>
          <a:p>
            <a:pPr>
              <a:spcAft>
                <a:spcPts val="1000"/>
              </a:spcAft>
              <a:defRPr sz="1500">
                <a:solidFill>
                  <a:srgbClr val="424242"/>
                </a:solidFill>
              </a:defRPr>
            </a:pPr>
            <a:r>
              <a:t>▸  Secrets: Tavily API key via Secret Manager</a:t>
            </a:r>
          </a:p>
          <a:p>
            <a:pPr>
              <a:spcAft>
                <a:spcPts val="1000"/>
              </a:spcAft>
              <a:defRPr sz="1500">
                <a:solidFill>
                  <a:srgbClr val="424242"/>
                </a:solidFill>
              </a:defRPr>
            </a:pPr>
            <a:r>
              <a:t>▸  Model: gemini-2.5-flash through Vertex AI</a:t>
            </a:r>
          </a:p>
          <a:p>
            <a:pPr>
              <a:spcAft>
                <a:spcPts val="1000"/>
              </a:spcAft>
              <a:defRPr sz="1500">
                <a:solidFill>
                  <a:srgbClr val="424242"/>
                </a:solidFill>
              </a:defRPr>
            </a:pPr>
            <a:r>
              <a:t>▸  UI: ADK Dev UI with agent graph visualization</a:t>
            </a:r>
          </a:p>
          <a:p>
            <a:pPr>
              <a:spcAft>
                <a:spcPts val="1000"/>
              </a:spcAft>
              <a:defRPr sz="1500">
                <a:solidFill>
                  <a:srgbClr val="424242"/>
                </a:solidFill>
              </a:defRPr>
            </a:pPr>
            <a:r>
              <a:t>▸  Interfaces: Streamlit (local) + ADK Web UI (production)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01384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757575"/>
                </a:solidFill>
              </a:defRPr>
            </a:pPr>
            <a:r>
              <a:t>Multi-Agent Research Intelligence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6501384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900" b="0">
                <a:solidFill>
                  <a:srgbClr val="757575"/>
                </a:solidFill>
              </a:defRPr>
            </a:pPr>
            <a:r>
              <a:t>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01384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757575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09728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0D1B2A"/>
                </a:solidFill>
              </a:defRPr>
            </a:pPr>
            <a:r>
              <a:t>Test Results &amp;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757575"/>
                </a:solidFill>
              </a:defRPr>
            </a:pPr>
            <a:r>
              <a:t>Validated through RAG smoke tests, web search, and end-to-end pipeline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260604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03120"/>
            <a:ext cx="2606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3600" b="1">
                <a:solidFill>
                  <a:srgbClr val="4285F4"/>
                </a:solidFill>
              </a:defRPr>
            </a:pPr>
            <a:r>
              <a:t>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8036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0D1B2A"/>
                </a:solidFill>
              </a:defRPr>
            </a:pPr>
            <a:r>
              <a:t>Chunks Indexed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46120"/>
            <a:ext cx="2606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757575"/>
                </a:solidFill>
              </a:defRPr>
            </a:pPr>
            <a:r>
              <a:t>3 arXiv papers in FAISS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783080"/>
            <a:ext cx="260604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103120"/>
            <a:ext cx="2606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3600" b="1">
                <a:solidFill>
                  <a:srgbClr val="4285F4"/>
                </a:solidFill>
              </a:defRPr>
            </a:pPr>
            <a:r>
              <a:t>0.74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88036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0D1B2A"/>
                </a:solidFill>
              </a:defRPr>
            </a:pPr>
            <a:r>
              <a:t>Avg RAG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246120"/>
            <a:ext cx="2606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757575"/>
                </a:solidFill>
              </a:defRPr>
            </a:pPr>
            <a:r>
              <a:t>Similarity on test queries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783080"/>
            <a:ext cx="260604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103120"/>
            <a:ext cx="2606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3600" b="1">
                <a:solidFill>
                  <a:srgbClr val="4285F4"/>
                </a:solidFill>
              </a:defRPr>
            </a:pPr>
            <a:r>
              <a:t>~6s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88036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0D1B2A"/>
                </a:solidFill>
              </a:defRPr>
            </a:pPr>
            <a:r>
              <a:t>Web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246120"/>
            <a:ext cx="2606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757575"/>
                </a:solidFill>
              </a:defRPr>
            </a:pPr>
            <a:r>
              <a:t>Tavily 3-result query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1783080"/>
            <a:ext cx="260604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2103120"/>
            <a:ext cx="2606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3600" b="1">
                <a:solidFill>
                  <a:srgbClr val="4285F4"/>
                </a:solidFill>
              </a:defRPr>
            </a:pPr>
            <a:r>
              <a:t>~57s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88036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0D1B2A"/>
                </a:solidFill>
              </a:defRPr>
            </a:pPr>
            <a:r>
              <a:t>Full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246120"/>
            <a:ext cx="2606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757575"/>
                </a:solidFill>
              </a:defRPr>
            </a:pPr>
            <a:r>
              <a:t>Multi-agent end-to-end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25196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424242"/>
                </a:solidFill>
              </a:defRPr>
            </a:pPr>
            <a:r>
              <a:t>▸  RAG correctly retrieved Attention, BERT, and GPT-3 paper excerpts</a:t>
            </a:r>
          </a:p>
          <a:p>
            <a:pPr>
              <a:spcAft>
                <a:spcPts val="800"/>
              </a:spcAft>
              <a:defRPr sz="1400">
                <a:solidFill>
                  <a:srgbClr val="424242"/>
                </a:solidFill>
              </a:defRPr>
            </a:pPr>
            <a:r>
              <a:t>▸  Web search returned current transformer research via Tavily API</a:t>
            </a:r>
          </a:p>
          <a:p>
            <a:pPr>
              <a:spcAft>
                <a:spcPts val="800"/>
              </a:spcAft>
              <a:defRPr sz="1400">
                <a:solidFill>
                  <a:srgbClr val="424242"/>
                </a:solidFill>
              </a:defRPr>
            </a:pPr>
            <a:r>
              <a:t>▸  Quality review loop produced cited, academically-toned synthesis</a:t>
            </a:r>
          </a:p>
          <a:p>
            <a:pPr>
              <a:spcAft>
                <a:spcPts val="800"/>
              </a:spcAft>
              <a:defRPr sz="1400">
                <a:solidFill>
                  <a:srgbClr val="424242"/>
                </a:solidFill>
              </a:defRPr>
            </a:pPr>
            <a:r>
              <a:t>▸  Deployed live at research-agent-chfrwn7sia-uc.a.run.app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6501384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757575"/>
                </a:solidFill>
              </a:defRPr>
            </a:pPr>
            <a:r>
              <a:t>Multi-Agent Research Intelligence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6501384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900" b="0">
                <a:solidFill>
                  <a:srgbClr val="757575"/>
                </a:solidFill>
              </a:defRPr>
            </a:pPr>
            <a:r>
              <a:t>Results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501384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757575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09728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0D1B2A"/>
                </a:solidFill>
              </a:defRPr>
            </a:pPr>
            <a:r>
              <a:t>Challenges &amp; Mitigations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757575"/>
                </a:solidFill>
              </a:defRPr>
            </a:pPr>
            <a:r>
              <a:t>Production issues encountered and resolved during development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1732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114800"/>
                <a:gridCol w="4297680"/>
              </a:tblGrid>
              <a:tr h="48768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Challenge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Solution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24242"/>
                          </a:solidFill>
                        </a:defRPr>
                      </a:pPr>
                      <a:r>
                        <a:t>429 RESOURCE_EXHAUSTED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24242"/>
                          </a:solidFill>
                        </a:defRPr>
                      </a:pPr>
                      <a:r>
                        <a:t>Gemini quota limits on multi-agent burst calls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24242"/>
                          </a:solidFill>
                        </a:defRPr>
                      </a:pPr>
                      <a:r>
                        <a:t>Retry config, sequential research mode, reduced loop iterations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24242"/>
                          </a:solidFill>
                        </a:defRPr>
                      </a:pPr>
                      <a:r>
                        <a:t>Model Not Found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24242"/>
                          </a:solidFill>
                        </a:defRPr>
                      </a:pPr>
                      <a:r>
                        <a:t>gemini-2.0-flash unavailable in project region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24242"/>
                          </a:solidFill>
                        </a:defRPr>
                      </a:pPr>
                      <a:r>
                        <a:t>Migrated to gemini-2.5-flash on Vertex AI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24242"/>
                          </a:solidFill>
                        </a:defRPr>
                      </a:pPr>
                      <a:r>
                        <a:t>Tool Registration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24242"/>
                          </a:solidFill>
                        </a:defRPr>
                      </a:pPr>
                      <a:r>
                        <a:t>LLM called wrong tool on researcher agents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24242"/>
                          </a:solidFill>
                        </a:defRPr>
                      </a:pPr>
                      <a:r>
                        <a:t>Both search tools registered on both agents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24242"/>
                          </a:solidFill>
                        </a:defRPr>
                      </a:pPr>
                      <a:r>
                        <a:t>Embedding Token Limit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24242"/>
                          </a:solidFill>
                        </a:defRPr>
                      </a:pPr>
                      <a:r>
                        <a:t>Batch exceeded 20K token embedding cap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24242"/>
                          </a:solidFill>
                        </a:defRPr>
                      </a:pPr>
                      <a:r>
                        <a:t>Batched embeddings (8 chunks per API call)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24242"/>
                          </a:solidFill>
                        </a:defRPr>
                      </a:pPr>
                      <a:r>
                        <a:t>Cloud Run 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24242"/>
                          </a:solidFill>
                        </a:defRPr>
                      </a:pPr>
                      <a:r>
                        <a:t>Service required authentication for public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424242"/>
                          </a:solidFill>
                        </a:defRPr>
                      </a:pPr>
                      <a:r>
                        <a:t>IAM invoker binding + ADK UI redeploy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01384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757575"/>
                </a:solidFill>
              </a:defRPr>
            </a:pPr>
            <a:r>
              <a:t>Multi-Agent Research Intelligence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6501384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900" b="0">
                <a:solidFill>
                  <a:srgbClr val="757575"/>
                </a:solidFill>
              </a:defRPr>
            </a:pPr>
            <a:r>
              <a:t>Challenges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01384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757575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01168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7200" b="1">
                <a:solidFill>
                  <a:srgbClr val="4285F4"/>
                </a:solidFill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2004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3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1605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BBCCDD"/>
                </a:solidFill>
              </a:defRPr>
            </a:pPr>
            <a:r>
              <a:t>Summary and future directions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09728" cy="1234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0D1B2A"/>
                </a:solidFill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757575"/>
                </a:solidFill>
              </a:defRPr>
            </a:pPr>
            <a:r>
              <a:t>Project outcomes and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424242"/>
                </a:solidFill>
              </a:defRPr>
            </a:pPr>
            <a:r>
              <a:t>▸  Delivered a production-ready multi-agent research assistant on Google ADK</a:t>
            </a:r>
          </a:p>
          <a:p>
            <a:pPr>
              <a:spcAft>
                <a:spcPts val="1000"/>
              </a:spcAft>
              <a:defRPr sz="1500">
                <a:solidFill>
                  <a:srgbClr val="424242"/>
                </a:solidFill>
              </a:defRPr>
            </a:pPr>
            <a:r>
              <a:t>▸  Combined RAG and web search with intelligent routing and QA review</a:t>
            </a:r>
          </a:p>
          <a:p>
            <a:pPr>
              <a:spcAft>
                <a:spcPts val="1000"/>
              </a:spcAft>
              <a:defRPr sz="1500">
                <a:solidFill>
                  <a:srgbClr val="424242"/>
                </a:solidFill>
              </a:defRPr>
            </a:pPr>
            <a:r>
              <a:t>▸  Deployed to Cloud Run with observability, secrets management, and CI/CD</a:t>
            </a:r>
          </a:p>
          <a:p>
            <a:pPr>
              <a:spcAft>
                <a:spcPts val="1000"/>
              </a:spcAft>
              <a:defRPr sz="1500">
                <a:solidFill>
                  <a:srgbClr val="424242"/>
                </a:solidFill>
              </a:defRPr>
            </a:pPr>
            <a:r>
              <a:t>▸  Future: persistent sessions (Firestore), larger corpora, agent evaluation benchmarks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01384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757575"/>
                </a:solidFill>
              </a:defRPr>
            </a:pPr>
            <a:r>
              <a:t>Multi-Agent Research Intelligence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6501384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600"/>
              </a:spcAft>
              <a:defRPr sz="900" b="0">
                <a:solidFill>
                  <a:srgbClr val="757575"/>
                </a:solidFill>
              </a:defRPr>
            </a:pPr>
            <a: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01384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757575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19456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2004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BBCCDD"/>
                </a:solidFill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114800"/>
            <a:ext cx="10058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Live Demo:  https://research-agent-chfrwn7sia-uc.a.run.app/</a:t>
            </a:r>
          </a:p>
          <a:p>
            <a:pPr>
              <a:spcAft>
                <a:spcPts val="800"/>
              </a:spcAft>
              <a:defRPr sz="1300">
                <a:solidFill>
                  <a:srgbClr val="AACCFF"/>
                </a:solidFill>
              </a:defRPr>
            </a:pPr>
            <a:r>
              <a:t>GitHub:  github.com/Dinaz-Sanaullah/multi-agent-research-system</a:t>
            </a:r>
          </a:p>
          <a:p>
            <a:pPr>
              <a:spcAft>
                <a:spcPts val="800"/>
              </a:spcAft>
              <a:defRPr sz="1300">
                <a:solidFill>
                  <a:srgbClr val="AACCFF"/>
                </a:solidFill>
              </a:defRPr>
            </a:pPr>
            <a:r>
              <a:t>GCP Project:  multi-agent-research-system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